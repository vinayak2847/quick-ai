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9"/>
  </p:notesMasterIdLst>
  <p:sldIdLst>
    <p:sldId id="281" r:id="rId2"/>
    <p:sldId id="327" r:id="rId3"/>
    <p:sldId id="316" r:id="rId4"/>
    <p:sldId id="328" r:id="rId5"/>
    <p:sldId id="329" r:id="rId6"/>
    <p:sldId id="330" r:id="rId7"/>
    <p:sldId id="314" r:id="rId8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BC1FE-0D27-420D-ACF3-3E7C33926969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22932-FB73-4B31-94D5-4A7F88516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4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6552602" y="0"/>
            <a:ext cx="2134198" cy="876300"/>
            <a:chOff x="6477000" y="3924300"/>
            <a:chExt cx="2235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502400" y="3924300"/>
              <a:ext cx="22098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07541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784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3B4335-2E7A-5CEC-C0E8-EFDCD91AFC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588720" y="201617"/>
            <a:ext cx="18288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E336C4E-A392-8729-E9AD-5C8843EB4C8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29400" y="201617"/>
            <a:ext cx="18288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72E63F-589D-8B42-99FD-D388EA2B82A4}"/>
              </a:ext>
            </a:extLst>
          </p:cNvPr>
          <p:cNvSpPr txBox="1"/>
          <p:nvPr/>
        </p:nvSpPr>
        <p:spPr>
          <a:xfrm>
            <a:off x="457200" y="990600"/>
            <a:ext cx="8229600" cy="33688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US" sz="1600" dirty="0">
                <a:latin typeface="+mj-lt"/>
              </a:rPr>
              <a:t>                            </a:t>
            </a:r>
            <a:r>
              <a:rPr lang="en-US" sz="3600" dirty="0">
                <a:latin typeface="+mj-lt"/>
              </a:rPr>
              <a:t>   </a:t>
            </a:r>
            <a:r>
              <a:rPr lang="en-US" sz="4000" b="1" dirty="0">
                <a:latin typeface="+mj-lt"/>
              </a:rPr>
              <a:t>IOHE (22CS422) G-22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                Project: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GenFusionAI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- </a:t>
            </a:r>
            <a:r>
              <a:rPr lang="en-IN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SaaS Platform</a:t>
            </a:r>
            <a:endParaRPr lang="en-IN" sz="2800" b="1" dirty="0">
              <a:latin typeface="+mj-lt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sz="2200" b="1" dirty="0">
                <a:latin typeface="+mj-lt"/>
                <a:cs typeface="Times New Roman" panose="02020603050405020304" pitchFamily="18" charset="0"/>
              </a:rPr>
              <a:t>Presented By: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Vinayak Mehta (2210992530)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sz="2200" b="1" dirty="0">
                <a:latin typeface="+mj-lt"/>
                <a:cs typeface="Times New Roman" panose="02020603050405020304" pitchFamily="18" charset="0"/>
              </a:rPr>
              <a:t>Supervised By : 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Name: Dr. Swati Goel</a:t>
            </a: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sz="2200" dirty="0">
                <a:latin typeface="+mj-lt"/>
                <a:cs typeface="Times New Roman" panose="02020603050405020304" pitchFamily="18" charset="0"/>
              </a:rPr>
              <a:t>Email: swati.goel@chitkara.edu.in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6C757-E116-F1BD-B60F-6C0A1EF50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88586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5995-8B3A-4710-04A9-17BC421B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173C-3E74-0772-69E4-E235662B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Project Overview</a:t>
            </a:r>
            <a:endParaRPr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EF710-5F91-6AD0-D330-C18A85C08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4525963"/>
          </a:xfrm>
        </p:spPr>
        <p:txBody>
          <a:bodyPr/>
          <a:lstStyle/>
          <a:p>
            <a:r>
              <a:rPr lang="en-IN" sz="2400" dirty="0"/>
              <a:t>One-stop AI-powered SaaS platform for business automation &amp; productivity</a:t>
            </a:r>
          </a:p>
          <a:p>
            <a:r>
              <a:rPr lang="en-IN" sz="2400" dirty="0"/>
              <a:t> Structured system with:</a:t>
            </a:r>
            <a:br>
              <a:rPr lang="en-IN" sz="2400" dirty="0"/>
            </a:br>
            <a:r>
              <a:rPr lang="en-IN" sz="2400" dirty="0"/>
              <a:t> – Multi-user &amp; role-based access</a:t>
            </a:r>
            <a:br>
              <a:rPr lang="en-IN" sz="2400" dirty="0"/>
            </a:br>
            <a:r>
              <a:rPr lang="en-IN" sz="2400" dirty="0"/>
              <a:t> – Subscription-based plans &amp; dashboard management</a:t>
            </a:r>
          </a:p>
          <a:p>
            <a:r>
              <a:rPr lang="en-IN" sz="2400" dirty="0"/>
              <a:t> User features:</a:t>
            </a:r>
            <a:br>
              <a:rPr lang="en-IN" sz="2400" dirty="0"/>
            </a:br>
            <a:r>
              <a:rPr lang="en-IN" sz="2400" dirty="0"/>
              <a:t> – AI-driven insights &amp; smart automation</a:t>
            </a:r>
            <a:br>
              <a:rPr lang="en-IN" sz="2400" dirty="0"/>
            </a:br>
            <a:r>
              <a:rPr lang="en-IN" sz="2400" dirty="0"/>
              <a:t> – Real-time analytics &amp; workflow management</a:t>
            </a:r>
          </a:p>
          <a:p>
            <a:r>
              <a:rPr lang="en-IN" sz="2400" dirty="0"/>
              <a:t> Tracking:</a:t>
            </a:r>
            <a:br>
              <a:rPr lang="en-IN" sz="2400" dirty="0"/>
            </a:br>
            <a:r>
              <a:rPr lang="en-IN" sz="2400" dirty="0"/>
              <a:t> – Usage monitoring &amp; payment/subscription tracking</a:t>
            </a:r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A4DB3-800F-7A93-BC17-89787E7FA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6200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7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Key Features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61060"/>
            <a:ext cx="8229600" cy="4525963"/>
          </a:xfrm>
        </p:spPr>
        <p:txBody>
          <a:bodyPr/>
          <a:lstStyle/>
          <a:p>
            <a:r>
              <a:rPr lang="en-US" sz="2400" dirty="0"/>
              <a:t>Core Features:</a:t>
            </a:r>
          </a:p>
          <a:p>
            <a:r>
              <a:rPr lang="en-US" sz="2400" dirty="0"/>
              <a:t> AI Automation &amp; Smart Processing:</a:t>
            </a:r>
            <a:br>
              <a:rPr lang="en-US" sz="2400" dirty="0"/>
            </a:br>
            <a:r>
              <a:rPr lang="en-US" sz="2400" dirty="0"/>
              <a:t> – AI-powered workflow automation</a:t>
            </a:r>
            <a:br>
              <a:rPr lang="en-US" sz="2400" dirty="0"/>
            </a:br>
            <a:r>
              <a:rPr lang="en-US" sz="2400" dirty="0"/>
              <a:t> – Intelligent task &amp; data management</a:t>
            </a:r>
          </a:p>
          <a:p>
            <a:r>
              <a:rPr lang="en-US" sz="2400" dirty="0"/>
              <a:t> Advanced Features:</a:t>
            </a:r>
            <a:br>
              <a:rPr lang="en-US" sz="2400" dirty="0"/>
            </a:br>
            <a:r>
              <a:rPr lang="en-US" sz="2400" dirty="0"/>
              <a:t> – Real-time analytics &amp; reporting</a:t>
            </a:r>
            <a:br>
              <a:rPr lang="en-US" sz="2400" dirty="0"/>
            </a:br>
            <a:r>
              <a:rPr lang="en-US" sz="2400" dirty="0"/>
              <a:t> – Smart recommendations &amp; predictions</a:t>
            </a:r>
          </a:p>
          <a:p>
            <a:r>
              <a:rPr lang="en-US" sz="2400" dirty="0"/>
              <a:t> User Management:</a:t>
            </a:r>
            <a:br>
              <a:rPr lang="en-US" sz="2400" dirty="0"/>
            </a:br>
            <a:r>
              <a:rPr lang="en-US" sz="2400" dirty="0"/>
              <a:t> – Secure authentication &amp; role-based access</a:t>
            </a:r>
            <a:br>
              <a:rPr lang="en-US" sz="2400" dirty="0"/>
            </a:br>
            <a:r>
              <a:rPr lang="en-US" sz="2400" dirty="0"/>
              <a:t> – Subscription &amp; profile management</a:t>
            </a:r>
          </a:p>
          <a:p>
            <a:r>
              <a:rPr lang="en-US" sz="2400" dirty="0"/>
              <a:t> Business Tracking:</a:t>
            </a:r>
            <a:br>
              <a:rPr lang="en-US" sz="2400" dirty="0"/>
            </a:br>
            <a:r>
              <a:rPr lang="en-US" sz="2400" dirty="0"/>
              <a:t> – Payment, usage &amp; invoice tracking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971C7-D324-8265-6515-4611CB319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540" y="179387"/>
            <a:ext cx="2514600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C057-EDDE-A2FE-49AA-0A479F2B0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E697-3FD8-3F47-C116-AAF2C84F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System Architecture &amp; Tech Stack</a:t>
            </a:r>
            <a:endParaRPr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E5CCF-148A-72DA-2E9A-B4822D45D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1060"/>
            <a:ext cx="8077200" cy="5692140"/>
          </a:xfrm>
        </p:spPr>
        <p:txBody>
          <a:bodyPr/>
          <a:lstStyle/>
          <a:p>
            <a:r>
              <a:rPr lang="en-IN" sz="2400" dirty="0"/>
              <a:t>Frontend: React.js (UI/UX), Tailwind CSS</a:t>
            </a:r>
          </a:p>
          <a:p>
            <a:r>
              <a:rPr lang="en-IN" sz="2400" dirty="0"/>
              <a:t> Backend: Node.js + Express.js</a:t>
            </a:r>
          </a:p>
          <a:p>
            <a:r>
              <a:rPr lang="en-IN" sz="2400" dirty="0"/>
              <a:t> Database: </a:t>
            </a:r>
            <a:r>
              <a:rPr lang="en-IN" sz="2400" dirty="0" err="1"/>
              <a:t>NeonDB</a:t>
            </a:r>
            <a:endParaRPr lang="en-IN" sz="2400" dirty="0"/>
          </a:p>
          <a:p>
            <a:r>
              <a:rPr lang="en-IN" sz="2400" dirty="0"/>
              <a:t> AI Integrations &amp; Tools:</a:t>
            </a:r>
            <a:br>
              <a:rPr lang="en-IN" sz="2400" dirty="0"/>
            </a:br>
            <a:r>
              <a:rPr lang="en-IN" sz="2400" dirty="0"/>
              <a:t> – OpenAI API → AI processing &amp; responses</a:t>
            </a:r>
            <a:br>
              <a:rPr lang="en-IN" sz="2400" dirty="0"/>
            </a:br>
            <a:r>
              <a:rPr lang="en-IN" sz="2400" dirty="0"/>
              <a:t> – Clerk → Authentication &amp; user management</a:t>
            </a:r>
            <a:br>
              <a:rPr lang="en-IN" sz="2400" dirty="0"/>
            </a:br>
            <a:r>
              <a:rPr lang="en-IN" sz="2400" dirty="0"/>
              <a:t> – Stripe → Subscription &amp; payment handling</a:t>
            </a:r>
            <a:br>
              <a:rPr lang="en-IN" sz="2400" dirty="0"/>
            </a:br>
            <a:r>
              <a:rPr lang="en-IN" sz="2400" dirty="0"/>
              <a:t> – </a:t>
            </a:r>
            <a:r>
              <a:rPr lang="en-IN" sz="2400" dirty="0" err="1"/>
              <a:t>Cloudinary</a:t>
            </a:r>
            <a:r>
              <a:rPr lang="en-IN" sz="2400" dirty="0"/>
              <a:t> / </a:t>
            </a:r>
            <a:r>
              <a:rPr lang="en-IN" sz="2400" dirty="0" err="1"/>
              <a:t>ImageKit</a:t>
            </a:r>
            <a:r>
              <a:rPr lang="en-IN" sz="2400" dirty="0"/>
              <a:t> → Media storage</a:t>
            </a:r>
          </a:p>
          <a:p>
            <a:r>
              <a:rPr lang="en-IN" sz="2400" dirty="0"/>
              <a:t>Deployment:</a:t>
            </a:r>
            <a:br>
              <a:rPr lang="en-IN" sz="2400" dirty="0"/>
            </a:br>
            <a:r>
              <a:rPr lang="en-IN" sz="2400" dirty="0"/>
              <a:t> – </a:t>
            </a:r>
            <a:r>
              <a:rPr lang="en-IN" sz="2400" dirty="0" err="1"/>
              <a:t>Vercel</a:t>
            </a:r>
            <a:r>
              <a:rPr lang="en-IN" sz="2400" dirty="0"/>
              <a:t> / Render</a:t>
            </a:r>
          </a:p>
          <a:p>
            <a:r>
              <a:rPr lang="en-IN" sz="2400" dirty="0"/>
              <a:t>Dev Tools:</a:t>
            </a:r>
            <a:br>
              <a:rPr lang="en-IN" sz="2400" dirty="0"/>
            </a:br>
            <a:r>
              <a:rPr lang="en-IN" sz="2400" dirty="0"/>
              <a:t> – VS Code, Git &amp; GitHub, Postman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24043-4E90-14B7-36CB-36735FE99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680" y="76200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3D1E-AF58-858A-B58A-B6575958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2F4F-94AB-417E-1CF0-CF0FA61F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Admin System</a:t>
            </a:r>
            <a:endParaRPr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C376C-77D0-30F5-1C99-E5E81E139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61060"/>
            <a:ext cx="8229600" cy="4525963"/>
          </a:xfrm>
        </p:spPr>
        <p:txBody>
          <a:bodyPr/>
          <a:lstStyle/>
          <a:p>
            <a:r>
              <a:rPr lang="en-IN" sz="2400" dirty="0"/>
              <a:t>Admin Panel:</a:t>
            </a:r>
            <a:br>
              <a:rPr lang="en-IN" sz="2400" dirty="0"/>
            </a:br>
            <a:r>
              <a:rPr lang="en-IN" sz="2400" dirty="0"/>
              <a:t> – Full dynamic control system</a:t>
            </a:r>
            <a:br>
              <a:rPr lang="en-IN" sz="2400" dirty="0"/>
            </a:br>
            <a:r>
              <a:rPr lang="en-IN" sz="2400" dirty="0"/>
              <a:t> – Manage users &amp; subscriptions</a:t>
            </a:r>
            <a:br>
              <a:rPr lang="en-IN" sz="2400" dirty="0"/>
            </a:br>
            <a:r>
              <a:rPr lang="en-IN" sz="2400" dirty="0"/>
              <a:t> – Manage AI tools, content &amp; workflows</a:t>
            </a:r>
            <a:br>
              <a:rPr lang="en-IN" sz="2400" dirty="0"/>
            </a:br>
            <a:r>
              <a:rPr lang="en-IN" sz="2400" dirty="0"/>
              <a:t> – Track user activity, analytics &amp; reports</a:t>
            </a:r>
            <a:br>
              <a:rPr lang="en-IN" sz="2400" dirty="0"/>
            </a:br>
            <a:r>
              <a:rPr lang="en-IN" sz="2400" dirty="0"/>
              <a:t> – Manage blogs, updates &amp; platform settings</a:t>
            </a:r>
          </a:p>
          <a:p>
            <a:r>
              <a:rPr lang="en-IN" sz="2400" dirty="0"/>
              <a:t>User Management:</a:t>
            </a:r>
            <a:br>
              <a:rPr lang="en-IN" sz="2400" dirty="0"/>
            </a:br>
            <a:r>
              <a:rPr lang="en-IN" sz="2400" dirty="0"/>
              <a:t> – Personalized dashboard &amp; profile management</a:t>
            </a:r>
            <a:br>
              <a:rPr lang="en-IN" sz="2400" dirty="0"/>
            </a:br>
            <a:r>
              <a:rPr lang="en-IN" sz="2400" dirty="0"/>
              <a:t> – Secure authentication &amp; role-based access</a:t>
            </a:r>
            <a:br>
              <a:rPr lang="en-IN" sz="2400" dirty="0"/>
            </a:br>
            <a:r>
              <a:rPr lang="en-IN" sz="2400" dirty="0"/>
              <a:t> – Subscription plans with online payment integration</a:t>
            </a:r>
            <a:br>
              <a:rPr lang="en-IN" sz="2400" dirty="0"/>
            </a:br>
            <a:r>
              <a:rPr lang="en-IN" sz="2400" dirty="0"/>
              <a:t> – Real-time notifications &amp; activity tracking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C0D34-6BF7-DAF1-ACF3-F109E13A8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21920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07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1259-0CFD-743C-8D3D-186FD05E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2210-BA45-ACD9-7FEA-C39BD15C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Conclusion &amp; Future Scope</a:t>
            </a:r>
            <a:endParaRPr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6A493-C45E-176A-7C22-9A66D66FC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61060"/>
            <a:ext cx="8229600" cy="5158740"/>
          </a:xfrm>
        </p:spPr>
        <p:txBody>
          <a:bodyPr/>
          <a:lstStyle/>
          <a:p>
            <a:r>
              <a:rPr lang="en-IN" sz="2400" dirty="0"/>
              <a:t>Conclusion:</a:t>
            </a:r>
            <a:br>
              <a:rPr lang="en-IN" sz="2400" dirty="0"/>
            </a:br>
            <a:r>
              <a:rPr lang="en-IN" sz="2400" dirty="0"/>
              <a:t> – Complete AI-powered SaaS ecosystem for business automation &amp; productivity</a:t>
            </a:r>
            <a:br>
              <a:rPr lang="en-IN" sz="2400" dirty="0"/>
            </a:br>
            <a:r>
              <a:rPr lang="en-IN" sz="2400" dirty="0"/>
              <a:t> – Integrates AI workflows, subscriptions, payments &amp; user management in one platform</a:t>
            </a:r>
            <a:br>
              <a:rPr lang="en-IN" sz="2400" dirty="0"/>
            </a:br>
            <a:r>
              <a:rPr lang="en-IN" sz="2400" dirty="0"/>
              <a:t> – Enhances efficiency with real-time analytics &amp; smart automation</a:t>
            </a:r>
            <a:br>
              <a:rPr lang="en-IN" sz="2400" dirty="0"/>
            </a:br>
            <a:r>
              <a:rPr lang="en-IN" sz="2400" dirty="0"/>
              <a:t> – Simplifies operations with scalable cloud-based solutions</a:t>
            </a:r>
          </a:p>
          <a:p>
            <a:r>
              <a:rPr lang="en-IN" sz="2400" dirty="0"/>
              <a:t>Future Scope:</a:t>
            </a:r>
            <a:br>
              <a:rPr lang="en-IN" sz="2400" dirty="0"/>
            </a:br>
            <a:r>
              <a:rPr lang="en-IN" sz="2400" dirty="0"/>
              <a:t> – Mobile app support (Android &amp; iOS)</a:t>
            </a:r>
            <a:br>
              <a:rPr lang="en-IN" sz="2400" dirty="0"/>
            </a:br>
            <a:r>
              <a:rPr lang="en-IN" sz="2400" dirty="0"/>
              <a:t> – Advanced AI-based recommendations &amp; automation</a:t>
            </a:r>
            <a:br>
              <a:rPr lang="en-IN" sz="2400" dirty="0"/>
            </a:br>
            <a:r>
              <a:rPr lang="en-IN" sz="2400" dirty="0"/>
              <a:t> – Smart analytics for business insights &amp; optimization</a:t>
            </a:r>
            <a:br>
              <a:rPr lang="en-IN" sz="2400" dirty="0"/>
            </a:br>
            <a:r>
              <a:rPr lang="en-IN" sz="2400" dirty="0"/>
              <a:t> – Multi-language AI assistant &amp; chatbot integration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59078B-01CF-D721-E8A1-3889D3B16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52400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0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2B35-F619-A6C4-D183-0905E3C8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172C5-9053-2A04-F2AC-F10C8CBF3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F6B48-0BA9-A9BE-B97C-3F6CC0BB9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40" y="102244"/>
            <a:ext cx="2514600" cy="12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941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2265</TotalTime>
  <Words>460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Theme1</vt:lpstr>
      <vt:lpstr>PowerPoint Presentation</vt:lpstr>
      <vt:lpstr>Project Overview</vt:lpstr>
      <vt:lpstr>Key Features</vt:lpstr>
      <vt:lpstr>System Architecture &amp; Tech Stack</vt:lpstr>
      <vt:lpstr>Admin System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Vinayak Mehta</cp:lastModifiedBy>
  <cp:revision>180</cp:revision>
  <dcterms:created xsi:type="dcterms:W3CDTF">2024-07-10T18:26:37Z</dcterms:created>
  <dcterms:modified xsi:type="dcterms:W3CDTF">2026-05-15T18:32:11Z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